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y="6858000" cx="12192000"/>
  <p:notesSz cx="6858000" cy="9144000"/>
  <p:embeddedFontLst>
    <p:embeddedFont>
      <p:font typeface="Inter"/>
      <p:regular r:id="rId28"/>
      <p:bold r:id="rId29"/>
      <p:italic r:id="rId30"/>
      <p:boldItalic r:id="rId31"/>
    </p:embeddedFont>
    <p:embeddedFont>
      <p:font typeface="JetBrains Mono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F78026A-63E6-4E45-A466-9EC9D7815DC6}">
  <a:tblStyle styleId="{2F78026A-63E6-4E45-A466-9EC9D7815DC6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Inter-regular.fntdata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Inter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Inter-boldItalic.fntdata"/><Relationship Id="rId30" Type="http://schemas.openxmlformats.org/officeDocument/2006/relationships/font" Target="fonts/Inter-italic.fntdata"/><Relationship Id="rId11" Type="http://schemas.openxmlformats.org/officeDocument/2006/relationships/slide" Target="slides/slide5.xml"/><Relationship Id="rId33" Type="http://schemas.openxmlformats.org/officeDocument/2006/relationships/font" Target="fonts/JetBrainsMono-bold.fntdata"/><Relationship Id="rId10" Type="http://schemas.openxmlformats.org/officeDocument/2006/relationships/slide" Target="slides/slide4.xml"/><Relationship Id="rId32" Type="http://schemas.openxmlformats.org/officeDocument/2006/relationships/font" Target="fonts/JetBrainsMono-regular.fntdata"/><Relationship Id="rId13" Type="http://schemas.openxmlformats.org/officeDocument/2006/relationships/slide" Target="slides/slide7.xml"/><Relationship Id="rId35" Type="http://schemas.openxmlformats.org/officeDocument/2006/relationships/font" Target="fonts/JetBrainsMono-boldItalic.fntdata"/><Relationship Id="rId12" Type="http://schemas.openxmlformats.org/officeDocument/2006/relationships/slide" Target="slides/slide6.xml"/><Relationship Id="rId34" Type="http://schemas.openxmlformats.org/officeDocument/2006/relationships/font" Target="fonts/JetBrainsMono-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5" Type="http://schemas.openxmlformats.org/officeDocument/2006/relationships/image" Target="../media/image14.png"/><Relationship Id="rId6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1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2.png"/><Relationship Id="rId4" Type="http://schemas.openxmlformats.org/officeDocument/2006/relationships/image" Target="../media/image6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609600" y="4627215"/>
            <a:ext cx="609600" cy="381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 txBox="1"/>
          <p:nvPr/>
        </p:nvSpPr>
        <p:spPr>
          <a:xfrm>
            <a:off x="609600" y="2192684"/>
            <a:ext cx="11582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ПРАКТИЧЕСКОЕ РУКОВОДСТВО ПО PHP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609600" y="2535584"/>
            <a:ext cx="8601075" cy="1139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Загрузка файлов, обработка JSON и окружение в PHP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609600" y="3865215"/>
            <a:ext cx="6286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Полный разбор работы с $_FILES, файловой системой, стандартом JSON API и встроенным веб-сервером PHP.</a:t>
            </a:r>
            <a:endParaRPr/>
          </a:p>
        </p:txBody>
      </p:sp>
      <p:pic>
        <p:nvPicPr>
          <p:cNvPr descr="sheet (источник: Getty Images)" id="88" name="Google Shape;88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46350" y="1583802"/>
            <a:ext cx="2878484" cy="28784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/>
          <p:nvPr/>
        </p:nvSpPr>
        <p:spPr>
          <a:xfrm>
            <a:off x="609600" y="2833687"/>
            <a:ext cx="2571750" cy="1905000"/>
          </a:xfrm>
          <a:prstGeom prst="roundRect">
            <a:avLst>
              <a:gd fmla="val 6000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/>
          <p:nvPr/>
        </p:nvSpPr>
        <p:spPr>
          <a:xfrm>
            <a:off x="3409950" y="2833687"/>
            <a:ext cx="2571750" cy="1905000"/>
          </a:xfrm>
          <a:prstGeom prst="roundRect">
            <a:avLst>
              <a:gd fmla="val 6000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/>
          <p:nvPr/>
        </p:nvSpPr>
        <p:spPr>
          <a:xfrm>
            <a:off x="6210300" y="2833687"/>
            <a:ext cx="2571750" cy="1905000"/>
          </a:xfrm>
          <a:prstGeom prst="roundRect">
            <a:avLst>
              <a:gd fmla="val 6000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/>
          <p:nvPr/>
        </p:nvSpPr>
        <p:spPr>
          <a:xfrm>
            <a:off x="9010650" y="2833687"/>
            <a:ext cx="2571750" cy="1905000"/>
          </a:xfrm>
          <a:prstGeom prst="roundRect">
            <a:avLst>
              <a:gd fmla="val 6000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97" name="Google Shape;9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6300" y="3214687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" name="Google Shape;9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76650" y="3214687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77000" y="3214687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277350" y="3214687"/>
            <a:ext cx="2571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609600" y="457200"/>
            <a:ext cx="115824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Содержание курса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876300" y="3709987"/>
            <a:ext cx="2133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Формы enctype, суперглобальный массив $_FILES и перемещение временных файлов.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3676650" y="3709987"/>
            <a:ext cx="2133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Проверка MIME-типов через finfo, ограничения размера и защита от уязвимостей.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6477000" y="3709987"/>
            <a:ext cx="2133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Функции json_encode / json_decode, чтение потоков и обработка ошибок.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9277350" y="3709987"/>
            <a:ext cx="2133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Настройка PATH, php.ini, встроенный CLI сервер и решение проблем 404/405.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1276350" y="3100387"/>
            <a:ext cx="182022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1. Загрузка файлов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4019550" y="3100387"/>
            <a:ext cx="188023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2. Валидация и безопасность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6877050" y="3100387"/>
            <a:ext cx="182022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3. Работа с JSON API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9648825" y="3100387"/>
            <a:ext cx="1850231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4. Окружение и CLI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/>
          <p:nvPr/>
        </p:nvSpPr>
        <p:spPr>
          <a:xfrm>
            <a:off x="609600" y="3762375"/>
            <a:ext cx="5295900" cy="571500"/>
          </a:xfrm>
          <a:prstGeom prst="roundRect">
            <a:avLst>
              <a:gd fmla="val 13333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5"/>
          <p:cNvSpPr txBox="1"/>
          <p:nvPr/>
        </p:nvSpPr>
        <p:spPr>
          <a:xfrm>
            <a:off x="609600" y="457200"/>
            <a:ext cx="115824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Анатомия HTML-формы загрузки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609600" y="2971800"/>
            <a:ext cx="53911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Для отправки двоичных данных файлов клиентская форма обязательно должна использовать специальный атрибут кодирования.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800100" y="3952875"/>
            <a:ext cx="50101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 Загрузить 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6286500" y="2976562"/>
            <a:ext cx="53911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method="POST":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Файлы невозможно передать через метод GET.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6286500" y="3529012"/>
            <a:ext cx="53911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enctype="multipart/form-data":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Разбивает поток данных на несколько частей (границы boundary).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6286500" y="4081462"/>
            <a:ext cx="53911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name="report":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Ключ, по которому файл будет доступен в PHP.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6"/>
          <p:cNvSpPr/>
          <p:nvPr/>
        </p:nvSpPr>
        <p:spPr>
          <a:xfrm>
            <a:off x="9082087" y="1081087"/>
            <a:ext cx="4029075" cy="529590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26" name="Google Shape;126;p16"/>
          <p:cNvGraphicFramePr/>
          <p:nvPr/>
        </p:nvGraphicFramePr>
        <p:xfrm>
          <a:off x="9082087" y="108108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{2F78026A-63E6-4E45-A466-9EC9D7815DC6}</a:tableStyleId>
              </a:tblPr>
              <a:tblGrid>
                <a:gridCol w="1028700"/>
                <a:gridCol w="1685925"/>
                <a:gridCol w="1314450"/>
              </a:tblGrid>
              <a:tr h="882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Ключ массива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Тип данных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Назначение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882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string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Оригинальное имя файла на компьютере пользователя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82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string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Временный путь сохранения файла на сервере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82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Размер загруженного файла в байтах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82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Код ошибки (0 = UPLOAD_ERR_OK)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82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string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MIME-тип из браузера (</a:t>
                      </a:r>
                      <a:r>
                        <a:rPr b="1" i="0" lang="en-US" sz="1200" u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небезопасно!</a:t>
                      </a:r>
                      <a:r>
                        <a:rPr b="0" i="0" lang="en-US" sz="1200" u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7" name="Google Shape;127;p16"/>
          <p:cNvSpPr txBox="1"/>
          <p:nvPr/>
        </p:nvSpPr>
        <p:spPr>
          <a:xfrm>
            <a:off x="609600" y="457200"/>
            <a:ext cx="115824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Структура массива $_FILES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-728662" y="3529012"/>
            <a:ext cx="1714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$_FILES['report']['name']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1271587" y="3529012"/>
            <a:ext cx="1714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$_FILES['report']['tmp_name']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3271837" y="3529012"/>
            <a:ext cx="1714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$_FILES['report']['size']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5272087" y="3529012"/>
            <a:ext cx="1714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$_FILES['report']['error']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7272337" y="3529012"/>
            <a:ext cx="1714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11D4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$_FILES['report']['type']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7"/>
          <p:cNvSpPr/>
          <p:nvPr/>
        </p:nvSpPr>
        <p:spPr>
          <a:xfrm>
            <a:off x="6400800" y="2662237"/>
            <a:ext cx="51816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7"/>
          <p:cNvSpPr/>
          <p:nvPr/>
        </p:nvSpPr>
        <p:spPr>
          <a:xfrm>
            <a:off x="6400800" y="3233737"/>
            <a:ext cx="51816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7"/>
          <p:cNvSpPr/>
          <p:nvPr/>
        </p:nvSpPr>
        <p:spPr>
          <a:xfrm>
            <a:off x="6400800" y="3805237"/>
            <a:ext cx="51816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7"/>
          <p:cNvSpPr/>
          <p:nvPr/>
        </p:nvSpPr>
        <p:spPr>
          <a:xfrm>
            <a:off x="6400800" y="4376737"/>
            <a:ext cx="51816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7"/>
          <p:cNvSpPr/>
          <p:nvPr/>
        </p:nvSpPr>
        <p:spPr>
          <a:xfrm>
            <a:off x="6400800" y="2662237"/>
            <a:ext cx="38100" cy="4191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7"/>
          <p:cNvSpPr/>
          <p:nvPr/>
        </p:nvSpPr>
        <p:spPr>
          <a:xfrm>
            <a:off x="6400800" y="3233737"/>
            <a:ext cx="38100" cy="4191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7"/>
          <p:cNvSpPr/>
          <p:nvPr/>
        </p:nvSpPr>
        <p:spPr>
          <a:xfrm>
            <a:off x="6400800" y="3805237"/>
            <a:ext cx="38100" cy="4191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7"/>
          <p:cNvSpPr/>
          <p:nvPr/>
        </p:nvSpPr>
        <p:spPr>
          <a:xfrm>
            <a:off x="6400800" y="4376737"/>
            <a:ext cx="38100" cy="419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45" name="Google Shape;14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1919287"/>
            <a:ext cx="5486400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071687"/>
            <a:ext cx="5181600" cy="3314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7"/>
          <p:cNvSpPr txBox="1"/>
          <p:nvPr/>
        </p:nvSpPr>
        <p:spPr>
          <a:xfrm>
            <a:off x="609600" y="457200"/>
            <a:ext cx="115824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Жизненный цикл файла при загрузке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6591300" y="2662237"/>
            <a:ext cx="56007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1. Передача клиента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6591300" y="2900362"/>
            <a:ext cx="56007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Файл отправляется в формате multipart/form-data.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6591300" y="3233737"/>
            <a:ext cx="56007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2. Временная директория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6591300" y="3471862"/>
            <a:ext cx="56007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PHP сохраняет файл под случайным именем в sys_get_temp_dir().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6591300" y="3805237"/>
            <a:ext cx="56007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3. Обработка скриптом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6591300" y="4043362"/>
            <a:ext cx="56007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Проверка ошибок, размера и валидация типа.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6591300" y="4376737"/>
            <a:ext cx="56007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4. Перемещение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6591300" y="4614862"/>
            <a:ext cx="56007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Вызов move_uploaded_file() перемещает файл в целевую папку.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8"/>
          <p:cNvSpPr/>
          <p:nvPr/>
        </p:nvSpPr>
        <p:spPr>
          <a:xfrm>
            <a:off x="609600" y="3178968"/>
            <a:ext cx="10972800" cy="671512"/>
          </a:xfrm>
          <a:prstGeom prst="roundRect">
            <a:avLst>
              <a:gd fmla="val 17021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8"/>
          <p:cNvSpPr txBox="1"/>
          <p:nvPr/>
        </p:nvSpPr>
        <p:spPr>
          <a:xfrm>
            <a:off x="609600" y="457200"/>
            <a:ext cx="115824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Код перемещения файла: move_uploaded_file</a:t>
            </a:r>
            <a:endParaRPr/>
          </a:p>
        </p:txBody>
      </p:sp>
      <p:sp>
        <p:nvSpPr>
          <p:cNvPr id="162" name="Google Shape;162;p18"/>
          <p:cNvSpPr txBox="1"/>
          <p:nvPr/>
        </p:nvSpPr>
        <p:spPr>
          <a:xfrm>
            <a:off x="609600" y="4040981"/>
            <a:ext cx="115824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Важно:</a:t>
            </a: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Всегда используйте move_uploaded_file() вместо copy() или rename() для предотвращения подделки временных путей.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9"/>
          <p:cNvSpPr/>
          <p:nvPr/>
        </p:nvSpPr>
        <p:spPr>
          <a:xfrm>
            <a:off x="609600" y="5334000"/>
            <a:ext cx="10972800" cy="1066800"/>
          </a:xfrm>
          <a:prstGeom prst="roundRect">
            <a:avLst>
              <a:gd fmla="val 10714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9"/>
          <p:cNvSpPr/>
          <p:nvPr/>
        </p:nvSpPr>
        <p:spPr>
          <a:xfrm>
            <a:off x="609600" y="2447925"/>
            <a:ext cx="5334000" cy="1266825"/>
          </a:xfrm>
          <a:prstGeom prst="roundRect">
            <a:avLst>
              <a:gd fmla="val 9022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9"/>
          <p:cNvSpPr/>
          <p:nvPr/>
        </p:nvSpPr>
        <p:spPr>
          <a:xfrm>
            <a:off x="6248400" y="2543175"/>
            <a:ext cx="5334000" cy="1076325"/>
          </a:xfrm>
          <a:prstGeom prst="roundRect">
            <a:avLst>
              <a:gd fmla="val 10619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9"/>
          <p:cNvSpPr txBox="1"/>
          <p:nvPr/>
        </p:nvSpPr>
        <p:spPr>
          <a:xfrm>
            <a:off x="609600" y="457200"/>
            <a:ext cx="115824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Безопасная проверка MIME-типов</a:t>
            </a:r>
            <a:endParaRPr/>
          </a:p>
        </p:txBody>
      </p:sp>
      <p:sp>
        <p:nvSpPr>
          <p:cNvPr id="171" name="Google Shape;171;p19"/>
          <p:cNvSpPr txBox="1"/>
          <p:nvPr/>
        </p:nvSpPr>
        <p:spPr>
          <a:xfrm>
            <a:off x="800100" y="5524500"/>
            <a:ext cx="106870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$finfo = new finfo(FILEINFO_MIME_TYPE); $mimeType = $finfo-&gt;file($_FILES['report']['tmp_name']); $allowed = ['image/jpeg', 'image/png', 'application/pdf']; if (!in_array($mimeType, $allowed)) { die("Недопустимый тип файла!"); }</a:t>
            </a:r>
            <a:endParaRPr/>
          </a:p>
        </p:txBody>
      </p:sp>
      <p:sp>
        <p:nvSpPr>
          <p:cNvPr id="172" name="Google Shape;172;p19"/>
          <p:cNvSpPr txBox="1"/>
          <p:nvPr/>
        </p:nvSpPr>
        <p:spPr>
          <a:xfrm>
            <a:off x="800100" y="5524500"/>
            <a:ext cx="106870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$finfo = new finfo(FILEINFO_MIME_TYPE); $mimeType = $finfo-&gt;file($_FILES['report']['tmp_name']); $allowed = ['image/jpeg', 'image/png', 'application/pdf']; if (!in_array($mimeType, $allowed)) { die("Недопустимый тип файла!"); }</a:t>
            </a:r>
            <a:endParaRPr/>
          </a:p>
        </p:txBody>
      </p:sp>
      <p:sp>
        <p:nvSpPr>
          <p:cNvPr id="173" name="Google Shape;173;p19"/>
          <p:cNvSpPr txBox="1"/>
          <p:nvPr/>
        </p:nvSpPr>
        <p:spPr>
          <a:xfrm>
            <a:off x="838200" y="2676525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11D48"/>
                </a:solidFill>
                <a:latin typeface="Inter"/>
                <a:ea typeface="Inter"/>
                <a:cs typeface="Inter"/>
                <a:sym typeface="Inter"/>
              </a:rPr>
              <a:t>Ненадежно: $_FILES['file']['type']</a:t>
            </a:r>
            <a:endParaRPr/>
          </a:p>
        </p:txBody>
      </p:sp>
      <p:sp>
        <p:nvSpPr>
          <p:cNvPr id="174" name="Google Shape;174;p19"/>
          <p:cNvSpPr txBox="1"/>
          <p:nvPr/>
        </p:nvSpPr>
        <p:spPr>
          <a:xfrm>
            <a:off x="838200" y="2905125"/>
            <a:ext cx="49720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Значение отправляется клиентом в HTTP-заголовке. Злоумышленник может подделать его, отправив вредоносный shell.php с типом image/jpeg.</a:t>
            </a:r>
            <a:endParaRPr/>
          </a:p>
        </p:txBody>
      </p:sp>
      <p:sp>
        <p:nvSpPr>
          <p:cNvPr id="175" name="Google Shape;175;p19"/>
          <p:cNvSpPr txBox="1"/>
          <p:nvPr/>
        </p:nvSpPr>
        <p:spPr>
          <a:xfrm>
            <a:off x="6477000" y="2771775"/>
            <a:ext cx="571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Надежно: Extension finfo</a:t>
            </a:r>
            <a:endParaRPr/>
          </a:p>
        </p:txBody>
      </p:sp>
      <p:sp>
        <p:nvSpPr>
          <p:cNvPr id="176" name="Google Shape;176;p19"/>
          <p:cNvSpPr txBox="1"/>
          <p:nvPr/>
        </p:nvSpPr>
        <p:spPr>
          <a:xfrm>
            <a:off x="6477000" y="3000375"/>
            <a:ext cx="4972050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PHP анализирует реальные сигнатуры (байты заголовка) внутри временного файла с помощью класса finfo.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0"/>
          <p:cNvSpPr/>
          <p:nvPr/>
        </p:nvSpPr>
        <p:spPr>
          <a:xfrm>
            <a:off x="609600" y="3143250"/>
            <a:ext cx="3505200" cy="1171575"/>
          </a:xfrm>
          <a:prstGeom prst="roundRect">
            <a:avLst>
              <a:gd fmla="val 9756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0"/>
          <p:cNvSpPr/>
          <p:nvPr/>
        </p:nvSpPr>
        <p:spPr>
          <a:xfrm>
            <a:off x="4343400" y="3143250"/>
            <a:ext cx="3505200" cy="1171575"/>
          </a:xfrm>
          <a:prstGeom prst="roundRect">
            <a:avLst>
              <a:gd fmla="val 9756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0"/>
          <p:cNvSpPr/>
          <p:nvPr/>
        </p:nvSpPr>
        <p:spPr>
          <a:xfrm>
            <a:off x="8077200" y="3143250"/>
            <a:ext cx="3505200" cy="1171575"/>
          </a:xfrm>
          <a:prstGeom prst="roundRect">
            <a:avLst>
              <a:gd fmla="val 9756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609600" y="457200"/>
            <a:ext cx="115824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Чек-лист безопасности загрузки файлов</a:t>
            </a:r>
            <a:endParaRPr/>
          </a:p>
        </p:txBody>
      </p:sp>
      <p:sp>
        <p:nvSpPr>
          <p:cNvPr id="185" name="Google Shape;185;p20"/>
          <p:cNvSpPr txBox="1"/>
          <p:nvPr/>
        </p:nvSpPr>
        <p:spPr>
          <a:xfrm>
            <a:off x="876300" y="3409950"/>
            <a:ext cx="3900487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Уникальные имена</a:t>
            </a:r>
            <a:endParaRPr/>
          </a:p>
        </p:txBody>
      </p:sp>
      <p:sp>
        <p:nvSpPr>
          <p:cNvPr id="186" name="Google Shape;186;p20"/>
          <p:cNvSpPr txBox="1"/>
          <p:nvPr/>
        </p:nvSpPr>
        <p:spPr>
          <a:xfrm>
            <a:off x="876300" y="3686175"/>
            <a:ext cx="30670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Генерация имен через bin2hex(random_bytes(8)).</a:t>
            </a:r>
            <a:endParaRPr/>
          </a:p>
        </p:txBody>
      </p:sp>
      <p:sp>
        <p:nvSpPr>
          <p:cNvPr id="187" name="Google Shape;187;p20"/>
          <p:cNvSpPr txBox="1"/>
          <p:nvPr/>
        </p:nvSpPr>
        <p:spPr>
          <a:xfrm>
            <a:off x="4610100" y="3409950"/>
            <a:ext cx="3900487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Белый список MIME</a:t>
            </a:r>
            <a:endParaRPr/>
          </a:p>
        </p:txBody>
      </p:sp>
      <p:sp>
        <p:nvSpPr>
          <p:cNvPr id="188" name="Google Shape;188;p20"/>
          <p:cNvSpPr txBox="1"/>
          <p:nvPr/>
        </p:nvSpPr>
        <p:spPr>
          <a:xfrm>
            <a:off x="4610100" y="3686175"/>
            <a:ext cx="30670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Строгая проверка finfo только по допустимым типам.</a:t>
            </a:r>
            <a:endParaRPr/>
          </a:p>
        </p:txBody>
      </p:sp>
      <p:sp>
        <p:nvSpPr>
          <p:cNvPr id="189" name="Google Shape;189;p20"/>
          <p:cNvSpPr txBox="1"/>
          <p:nvPr/>
        </p:nvSpPr>
        <p:spPr>
          <a:xfrm>
            <a:off x="8343900" y="3409950"/>
            <a:ext cx="38481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Отключение скриптов</a:t>
            </a:r>
            <a:endParaRPr/>
          </a:p>
        </p:txBody>
      </p:sp>
      <p:sp>
        <p:nvSpPr>
          <p:cNvPr id="190" name="Google Shape;190;p20"/>
          <p:cNvSpPr txBox="1"/>
          <p:nvPr/>
        </p:nvSpPr>
        <p:spPr>
          <a:xfrm>
            <a:off x="8343900" y="3686175"/>
            <a:ext cx="30670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Запрет выполнения PHP в папке uploads через .htaccess.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5" name="Google Shape;19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1919287"/>
            <a:ext cx="5486400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6" name="Google Shape;196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071687"/>
            <a:ext cx="5181600" cy="3314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1"/>
          <p:cNvSpPr txBox="1"/>
          <p:nvPr/>
        </p:nvSpPr>
        <p:spPr>
          <a:xfrm>
            <a:off x="609600" y="457200"/>
            <a:ext cx="115824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Конвейер валидации безопасности</a:t>
            </a:r>
            <a:endParaRPr/>
          </a:p>
        </p:txBody>
      </p:sp>
      <p:sp>
        <p:nvSpPr>
          <p:cNvPr id="198" name="Google Shape;198;p21"/>
          <p:cNvSpPr txBox="1"/>
          <p:nvPr/>
        </p:nvSpPr>
        <p:spPr>
          <a:xfrm>
            <a:off x="6400800" y="3167062"/>
            <a:ext cx="57912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Шаг 1: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Проверка кода ошибки UPLOAD_ERR_OK.</a:t>
            </a:r>
            <a:endParaRPr/>
          </a:p>
        </p:txBody>
      </p:sp>
      <p:sp>
        <p:nvSpPr>
          <p:cNvPr id="199" name="Google Shape;199;p21"/>
          <p:cNvSpPr txBox="1"/>
          <p:nvPr/>
        </p:nvSpPr>
        <p:spPr>
          <a:xfrm>
            <a:off x="6400800" y="3481387"/>
            <a:ext cx="57912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Шаг 2: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Проверка лимитов размера (например, &lt; 5 MB).</a:t>
            </a:r>
            <a:endParaRPr/>
          </a:p>
        </p:txBody>
      </p:sp>
      <p:sp>
        <p:nvSpPr>
          <p:cNvPr id="200" name="Google Shape;200;p21"/>
          <p:cNvSpPr txBox="1"/>
          <p:nvPr/>
        </p:nvSpPr>
        <p:spPr>
          <a:xfrm>
            <a:off x="6400800" y="3786187"/>
            <a:ext cx="57912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Шаг 3: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Валидация сигнатуры файла через finfo.</a:t>
            </a:r>
            <a:endParaRPr/>
          </a:p>
        </p:txBody>
      </p:sp>
      <p:sp>
        <p:nvSpPr>
          <p:cNvPr id="201" name="Google Shape;201;p21"/>
          <p:cNvSpPr txBox="1"/>
          <p:nvPr/>
        </p:nvSpPr>
        <p:spPr>
          <a:xfrm>
            <a:off x="6400800" y="4100512"/>
            <a:ext cx="57912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Шаг 4: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Сохранение вне публичного корня (webroot).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2"/>
          <p:cNvSpPr txBox="1"/>
          <p:nvPr/>
        </p:nvSpPr>
        <p:spPr>
          <a:xfrm>
            <a:off x="5510212" y="2671762"/>
            <a:ext cx="11715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РАЗДЕЛ 2</a:t>
            </a:r>
            <a:endParaRPr/>
          </a:p>
        </p:txBody>
      </p:sp>
      <p:sp>
        <p:nvSpPr>
          <p:cNvPr id="207" name="Google Shape;207;p22"/>
          <p:cNvSpPr txBox="1"/>
          <p:nvPr/>
        </p:nvSpPr>
        <p:spPr>
          <a:xfrm>
            <a:off x="276820" y="3014662"/>
            <a:ext cx="11638359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Работа с JSON и построение REST API</a:t>
            </a:r>
            <a:endParaRPr/>
          </a:p>
        </p:txBody>
      </p:sp>
      <p:sp>
        <p:nvSpPr>
          <p:cNvPr id="208" name="Google Shape;208;p22"/>
          <p:cNvSpPr txBox="1"/>
          <p:nvPr/>
        </p:nvSpPr>
        <p:spPr>
          <a:xfrm>
            <a:off x="2524125" y="3729037"/>
            <a:ext cx="71437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Преобразование структур данных PHP в формат JSON и обработка входящих запросов.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3"/>
          <p:cNvSpPr/>
          <p:nvPr/>
        </p:nvSpPr>
        <p:spPr>
          <a:xfrm>
            <a:off x="609600" y="3214687"/>
            <a:ext cx="3505200" cy="1028700"/>
          </a:xfrm>
          <a:prstGeom prst="roundRect">
            <a:avLst>
              <a:gd fmla="val 11111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3"/>
          <p:cNvSpPr/>
          <p:nvPr/>
        </p:nvSpPr>
        <p:spPr>
          <a:xfrm>
            <a:off x="4343400" y="3214687"/>
            <a:ext cx="3505200" cy="1028700"/>
          </a:xfrm>
          <a:prstGeom prst="roundRect">
            <a:avLst>
              <a:gd fmla="val 11111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3"/>
          <p:cNvSpPr/>
          <p:nvPr/>
        </p:nvSpPr>
        <p:spPr>
          <a:xfrm>
            <a:off x="8077200" y="3214687"/>
            <a:ext cx="3505200" cy="1028700"/>
          </a:xfrm>
          <a:prstGeom prst="roundRect">
            <a:avLst>
              <a:gd fmla="val 11111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3"/>
          <p:cNvSpPr txBox="1"/>
          <p:nvPr/>
        </p:nvSpPr>
        <p:spPr>
          <a:xfrm>
            <a:off x="609600" y="457200"/>
            <a:ext cx="115824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Основы JSON API в PHP</a:t>
            </a:r>
            <a:endParaRPr/>
          </a:p>
        </p:txBody>
      </p:sp>
      <p:sp>
        <p:nvSpPr>
          <p:cNvPr id="217" name="Google Shape;217;p23"/>
          <p:cNvSpPr txBox="1"/>
          <p:nvPr/>
        </p:nvSpPr>
        <p:spPr>
          <a:xfrm>
            <a:off x="876300" y="3481387"/>
            <a:ext cx="3900487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1. Установка заголовка</a:t>
            </a:r>
            <a:endParaRPr/>
          </a:p>
        </p:txBody>
      </p:sp>
      <p:sp>
        <p:nvSpPr>
          <p:cNvPr id="218" name="Google Shape;218;p23"/>
          <p:cNvSpPr txBox="1"/>
          <p:nvPr/>
        </p:nvSpPr>
        <p:spPr>
          <a:xfrm>
            <a:off x="876300" y="3786187"/>
            <a:ext cx="37147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header('Content-Type: application/json');</a:t>
            </a:r>
            <a:endParaRPr/>
          </a:p>
        </p:txBody>
      </p:sp>
      <p:sp>
        <p:nvSpPr>
          <p:cNvPr id="219" name="Google Shape;219;p23"/>
          <p:cNvSpPr txBox="1"/>
          <p:nvPr/>
        </p:nvSpPr>
        <p:spPr>
          <a:xfrm>
            <a:off x="4610100" y="3481387"/>
            <a:ext cx="3900487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2. Сериализация данных</a:t>
            </a:r>
            <a:endParaRPr/>
          </a:p>
        </p:txBody>
      </p:sp>
      <p:sp>
        <p:nvSpPr>
          <p:cNvPr id="220" name="Google Shape;220;p23"/>
          <p:cNvSpPr txBox="1"/>
          <p:nvPr/>
        </p:nvSpPr>
        <p:spPr>
          <a:xfrm>
            <a:off x="4610100" y="3786187"/>
            <a:ext cx="37147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echo json_encode($data);</a:t>
            </a:r>
            <a:endParaRPr/>
          </a:p>
        </p:txBody>
      </p:sp>
      <p:sp>
        <p:nvSpPr>
          <p:cNvPr id="221" name="Google Shape;221;p23"/>
          <p:cNvSpPr txBox="1"/>
          <p:nvPr/>
        </p:nvSpPr>
        <p:spPr>
          <a:xfrm>
            <a:off x="8343900" y="3481387"/>
            <a:ext cx="3848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3. Статусы ответов</a:t>
            </a:r>
            <a:endParaRPr/>
          </a:p>
        </p:txBody>
      </p:sp>
      <p:sp>
        <p:nvSpPr>
          <p:cNvPr id="222" name="Google Shape;222;p23"/>
          <p:cNvSpPr txBox="1"/>
          <p:nvPr/>
        </p:nvSpPr>
        <p:spPr>
          <a:xfrm>
            <a:off x="8343900" y="3786187"/>
            <a:ext cx="37147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http_response_code(200 / 400 / 404);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4"/>
          <p:cNvSpPr/>
          <p:nvPr/>
        </p:nvSpPr>
        <p:spPr>
          <a:xfrm>
            <a:off x="609600" y="2760761"/>
            <a:ext cx="5372100" cy="1898451"/>
          </a:xfrm>
          <a:prstGeom prst="roundRect">
            <a:avLst>
              <a:gd fmla="val 6020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4"/>
          <p:cNvSpPr/>
          <p:nvPr/>
        </p:nvSpPr>
        <p:spPr>
          <a:xfrm>
            <a:off x="6210300" y="2933997"/>
            <a:ext cx="5372100" cy="1551979"/>
          </a:xfrm>
          <a:prstGeom prst="roundRect">
            <a:avLst>
              <a:gd fmla="val 7364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4"/>
          <p:cNvSpPr txBox="1"/>
          <p:nvPr/>
        </p:nvSpPr>
        <p:spPr>
          <a:xfrm>
            <a:off x="609600" y="457200"/>
            <a:ext cx="115824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Функции json_encode и json_decode</a:t>
            </a:r>
            <a:endParaRPr/>
          </a:p>
        </p:txBody>
      </p:sp>
      <p:sp>
        <p:nvSpPr>
          <p:cNvPr id="230" name="Google Shape;230;p24"/>
          <p:cNvSpPr txBox="1"/>
          <p:nvPr/>
        </p:nvSpPr>
        <p:spPr>
          <a:xfrm>
            <a:off x="800100" y="3141761"/>
            <a:ext cx="5086350" cy="13269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$data = [ "status" =&gt; "success", "count" =&gt; 2 ]; echo json_encode($data, JSON_PRETTY_PRINT | JSON_UNESCAPED_UNICODE );</a:t>
            </a:r>
            <a:endParaRPr/>
          </a:p>
        </p:txBody>
      </p:sp>
      <p:sp>
        <p:nvSpPr>
          <p:cNvPr id="231" name="Google Shape;231;p24"/>
          <p:cNvSpPr txBox="1"/>
          <p:nvPr/>
        </p:nvSpPr>
        <p:spPr>
          <a:xfrm>
            <a:off x="6400800" y="3314997"/>
            <a:ext cx="5086350" cy="9804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$jsonString = '{"user": "Alex", "age": 25}'; // true возвращает ассоциативный массив $array = json_decode($jsonString, true); echo $array['user']; // Alex</a:t>
            </a:r>
            <a:endParaRPr/>
          </a:p>
        </p:txBody>
      </p:sp>
      <p:sp>
        <p:nvSpPr>
          <p:cNvPr id="232" name="Google Shape;232;p24"/>
          <p:cNvSpPr txBox="1"/>
          <p:nvPr/>
        </p:nvSpPr>
        <p:spPr>
          <a:xfrm>
            <a:off x="800100" y="2951261"/>
            <a:ext cx="6550818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Кодирование (Array -&gt; JSON)</a:t>
            </a:r>
            <a:endParaRPr/>
          </a:p>
        </p:txBody>
      </p:sp>
      <p:sp>
        <p:nvSpPr>
          <p:cNvPr id="233" name="Google Shape;233;p24"/>
          <p:cNvSpPr txBox="1"/>
          <p:nvPr/>
        </p:nvSpPr>
        <p:spPr>
          <a:xfrm>
            <a:off x="800100" y="3256061"/>
            <a:ext cx="5086350" cy="1212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$data = [ "status" =&gt; "success", "count" =&gt; 2 ]; echo json_encode($data, JSON_PRETTY_PRINT | JSON_UNESCAPED_UNICODE );</a:t>
            </a:r>
            <a:endParaRPr/>
          </a:p>
        </p:txBody>
      </p:sp>
      <p:sp>
        <p:nvSpPr>
          <p:cNvPr id="234" name="Google Shape;234;p24"/>
          <p:cNvSpPr txBox="1"/>
          <p:nvPr/>
        </p:nvSpPr>
        <p:spPr>
          <a:xfrm>
            <a:off x="6400800" y="3124497"/>
            <a:ext cx="57912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Декодирование (JSON -&gt; Array)</a:t>
            </a:r>
            <a:endParaRPr/>
          </a:p>
        </p:txBody>
      </p:sp>
      <p:sp>
        <p:nvSpPr>
          <p:cNvPr id="235" name="Google Shape;235;p24"/>
          <p:cNvSpPr txBox="1"/>
          <p:nvPr/>
        </p:nvSpPr>
        <p:spPr>
          <a:xfrm>
            <a:off x="6400800" y="3429297"/>
            <a:ext cx="5086350" cy="8661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$jsonString = '{"user": "Alex", "age": 25}'; // true возвращает ассоциативный массив $array = json_decode($jsonString, true); echo $array['user']; // Alex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5"/>
          <p:cNvSpPr/>
          <p:nvPr/>
        </p:nvSpPr>
        <p:spPr>
          <a:xfrm>
            <a:off x="609600" y="3162300"/>
            <a:ext cx="10972800" cy="1314450"/>
          </a:xfrm>
          <a:prstGeom prst="roundRect">
            <a:avLst>
              <a:gd fmla="val 8695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5"/>
          <p:cNvSpPr txBox="1"/>
          <p:nvPr/>
        </p:nvSpPr>
        <p:spPr>
          <a:xfrm>
            <a:off x="609600" y="457200"/>
            <a:ext cx="115824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Чтение сырого JSON из php://input</a:t>
            </a:r>
            <a:endParaRPr/>
          </a:p>
        </p:txBody>
      </p:sp>
      <p:sp>
        <p:nvSpPr>
          <p:cNvPr id="242" name="Google Shape;242;p25"/>
          <p:cNvSpPr txBox="1"/>
          <p:nvPr/>
        </p:nvSpPr>
        <p:spPr>
          <a:xfrm>
            <a:off x="609600" y="2790825"/>
            <a:ext cx="115824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При отправке JSON через POST/PUT параметры НЕ попадают в массив $_POST. Их нужно читать из входного потока:</a:t>
            </a:r>
            <a:endParaRPr/>
          </a:p>
        </p:txBody>
      </p:sp>
      <p:sp>
        <p:nvSpPr>
          <p:cNvPr id="243" name="Google Shape;243;p25"/>
          <p:cNvSpPr txBox="1"/>
          <p:nvPr/>
        </p:nvSpPr>
        <p:spPr>
          <a:xfrm>
            <a:off x="838200" y="3390900"/>
            <a:ext cx="106108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"Неверный формат JSON"]); exit; } ?&gt;</a:t>
            </a:r>
            <a:endParaRPr/>
          </a:p>
        </p:txBody>
      </p:sp>
      <p:sp>
        <p:nvSpPr>
          <p:cNvPr id="244" name="Google Shape;244;p25"/>
          <p:cNvSpPr txBox="1"/>
          <p:nvPr/>
        </p:nvSpPr>
        <p:spPr>
          <a:xfrm>
            <a:off x="838200" y="3390900"/>
            <a:ext cx="106108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"Неверный формат JSON"]); exit; } ?&gt;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9" name="Google Shape;24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1919287"/>
            <a:ext cx="5486400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0" name="Google Shape;250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071687"/>
            <a:ext cx="5181600" cy="331470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6"/>
          <p:cNvSpPr txBox="1"/>
          <p:nvPr/>
        </p:nvSpPr>
        <p:spPr>
          <a:xfrm>
            <a:off x="609600" y="457200"/>
            <a:ext cx="115824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Поток обработки данных JSON API</a:t>
            </a:r>
            <a:endParaRPr/>
          </a:p>
        </p:txBody>
      </p:sp>
      <p:sp>
        <p:nvSpPr>
          <p:cNvPr id="252" name="Google Shape;252;p26"/>
          <p:cNvSpPr txBox="1"/>
          <p:nvPr/>
        </p:nvSpPr>
        <p:spPr>
          <a:xfrm>
            <a:off x="6400800" y="2986087"/>
            <a:ext cx="57912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Клиент-Серверный обмен:</a:t>
            </a:r>
            <a:endParaRPr/>
          </a:p>
        </p:txBody>
      </p:sp>
      <p:sp>
        <p:nvSpPr>
          <p:cNvPr id="253" name="Google Shape;253;p26"/>
          <p:cNvSpPr txBox="1"/>
          <p:nvPr/>
        </p:nvSpPr>
        <p:spPr>
          <a:xfrm>
            <a:off x="6400800" y="3338512"/>
            <a:ext cx="57912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1. Client отправляет Request с Content-Type: application/json.</a:t>
            </a:r>
            <a:endParaRPr/>
          </a:p>
        </p:txBody>
      </p:sp>
      <p:sp>
        <p:nvSpPr>
          <p:cNvPr id="254" name="Google Shape;254;p26"/>
          <p:cNvSpPr txBox="1"/>
          <p:nvPr/>
        </p:nvSpPr>
        <p:spPr>
          <a:xfrm>
            <a:off x="6400800" y="3652837"/>
            <a:ext cx="57912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2. PHP читает поток php://input.</a:t>
            </a:r>
            <a:endParaRPr/>
          </a:p>
        </p:txBody>
      </p:sp>
      <p:sp>
        <p:nvSpPr>
          <p:cNvPr id="255" name="Google Shape;255;p26"/>
          <p:cNvSpPr txBox="1"/>
          <p:nvPr/>
        </p:nvSpPr>
        <p:spPr>
          <a:xfrm>
            <a:off x="6400800" y="3967162"/>
            <a:ext cx="57912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3. Валидация через json_last_error().</a:t>
            </a:r>
            <a:endParaRPr/>
          </a:p>
        </p:txBody>
      </p:sp>
      <p:sp>
        <p:nvSpPr>
          <p:cNvPr id="256" name="Google Shape;256;p26"/>
          <p:cNvSpPr txBox="1"/>
          <p:nvPr/>
        </p:nvSpPr>
        <p:spPr>
          <a:xfrm>
            <a:off x="6400800" y="4281487"/>
            <a:ext cx="57912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4. Возврат JSON ответа клиенту.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7"/>
          <p:cNvSpPr txBox="1"/>
          <p:nvPr/>
        </p:nvSpPr>
        <p:spPr>
          <a:xfrm>
            <a:off x="5510212" y="2671762"/>
            <a:ext cx="11715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РАЗДЕЛ 3</a:t>
            </a:r>
            <a:endParaRPr/>
          </a:p>
        </p:txBody>
      </p:sp>
      <p:sp>
        <p:nvSpPr>
          <p:cNvPr id="262" name="Google Shape;262;p27"/>
          <p:cNvSpPr txBox="1"/>
          <p:nvPr/>
        </p:nvSpPr>
        <p:spPr>
          <a:xfrm>
            <a:off x="1120378" y="3014662"/>
            <a:ext cx="9951243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Настройка окружения PHP и CLI</a:t>
            </a:r>
            <a:endParaRPr/>
          </a:p>
        </p:txBody>
      </p:sp>
      <p:sp>
        <p:nvSpPr>
          <p:cNvPr id="263" name="Google Shape;263;p27"/>
          <p:cNvSpPr txBox="1"/>
          <p:nvPr/>
        </p:nvSpPr>
        <p:spPr>
          <a:xfrm>
            <a:off x="2524125" y="3729037"/>
            <a:ext cx="71437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Решение системных ошибок, переменные среды PATH и работа со встроенным сервером.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8"/>
          <p:cNvSpPr/>
          <p:nvPr/>
        </p:nvSpPr>
        <p:spPr>
          <a:xfrm>
            <a:off x="609600" y="3067050"/>
            <a:ext cx="5334000" cy="1323975"/>
          </a:xfrm>
          <a:prstGeom prst="roundRect">
            <a:avLst>
              <a:gd fmla="val 8633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8"/>
          <p:cNvSpPr/>
          <p:nvPr/>
        </p:nvSpPr>
        <p:spPr>
          <a:xfrm>
            <a:off x="6248400" y="2928937"/>
            <a:ext cx="5334000" cy="1600200"/>
          </a:xfrm>
          <a:prstGeom prst="roundRect">
            <a:avLst>
              <a:gd fmla="val 7142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8"/>
          <p:cNvSpPr txBox="1"/>
          <p:nvPr/>
        </p:nvSpPr>
        <p:spPr>
          <a:xfrm>
            <a:off x="609600" y="457200"/>
            <a:ext cx="115824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Решение ошибки: "Команда php не распознана"</a:t>
            </a:r>
            <a:endParaRPr/>
          </a:p>
        </p:txBody>
      </p:sp>
      <p:sp>
        <p:nvSpPr>
          <p:cNvPr id="271" name="Google Shape;271;p28"/>
          <p:cNvSpPr txBox="1"/>
          <p:nvPr/>
        </p:nvSpPr>
        <p:spPr>
          <a:xfrm>
            <a:off x="6477000" y="3386137"/>
            <a:ext cx="49720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C:\xampp\php\php.exe -m</a:t>
            </a:r>
            <a:endParaRPr/>
          </a:p>
        </p:txBody>
      </p:sp>
      <p:sp>
        <p:nvSpPr>
          <p:cNvPr id="272" name="Google Shape;272;p28"/>
          <p:cNvSpPr txBox="1"/>
          <p:nvPr/>
        </p:nvSpPr>
        <p:spPr>
          <a:xfrm>
            <a:off x="838200" y="3295650"/>
            <a:ext cx="64008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11D48"/>
                </a:solidFill>
                <a:latin typeface="Inter"/>
                <a:ea typeface="Inter"/>
                <a:cs typeface="Inter"/>
                <a:sym typeface="Inter"/>
              </a:rPr>
              <a:t>Причина ошибки</a:t>
            </a:r>
            <a:endParaRPr/>
          </a:p>
        </p:txBody>
      </p:sp>
      <p:sp>
        <p:nvSpPr>
          <p:cNvPr id="273" name="Google Shape;273;p28"/>
          <p:cNvSpPr txBox="1"/>
          <p:nvPr/>
        </p:nvSpPr>
        <p:spPr>
          <a:xfrm>
            <a:off x="838200" y="3609975"/>
            <a:ext cx="49720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Операционная система Windows не знает, где находится исполняемый файл php.exe, так как путь к нему не добавлен в системную переменную </a:t>
            </a:r>
            <a:r>
              <a:rPr b="1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PATH</a:t>
            </a: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274" name="Google Shape;274;p28"/>
          <p:cNvSpPr txBox="1"/>
          <p:nvPr/>
        </p:nvSpPr>
        <p:spPr>
          <a:xfrm>
            <a:off x="6477000" y="3157537"/>
            <a:ext cx="57150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Решения</a:t>
            </a:r>
            <a:endParaRPr/>
          </a:p>
        </p:txBody>
      </p:sp>
      <p:sp>
        <p:nvSpPr>
          <p:cNvPr id="275" name="Google Shape;275;p28"/>
          <p:cNvSpPr txBox="1"/>
          <p:nvPr/>
        </p:nvSpPr>
        <p:spPr>
          <a:xfrm>
            <a:off x="6477000" y="3471862"/>
            <a:ext cx="57150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Вариант А:</a:t>
            </a: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Указывать абсолютный путь:</a:t>
            </a:r>
            <a:endParaRPr/>
          </a:p>
        </p:txBody>
      </p:sp>
      <p:sp>
        <p:nvSpPr>
          <p:cNvPr id="276" name="Google Shape;276;p28"/>
          <p:cNvSpPr txBox="1"/>
          <p:nvPr/>
        </p:nvSpPr>
        <p:spPr>
          <a:xfrm>
            <a:off x="6477000" y="4033837"/>
            <a:ext cx="5715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Вариант Б:</a:t>
            </a: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Добавить C:\xampp\php в переменные среды PATH.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9"/>
          <p:cNvSpPr/>
          <p:nvPr/>
        </p:nvSpPr>
        <p:spPr>
          <a:xfrm>
            <a:off x="6400800" y="3024187"/>
            <a:ext cx="5181600" cy="571500"/>
          </a:xfrm>
          <a:prstGeom prst="roundRect">
            <a:avLst>
              <a:gd fmla="val 20000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82" name="Google Shape;282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1919287"/>
            <a:ext cx="5486400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3" name="Google Shape;283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071687"/>
            <a:ext cx="5181600" cy="331470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9"/>
          <p:cNvSpPr txBox="1"/>
          <p:nvPr/>
        </p:nvSpPr>
        <p:spPr>
          <a:xfrm>
            <a:off x="609600" y="457200"/>
            <a:ext cx="115824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Запуск встроенного PHP-сервера</a:t>
            </a:r>
            <a:endParaRPr/>
          </a:p>
        </p:txBody>
      </p:sp>
      <p:sp>
        <p:nvSpPr>
          <p:cNvPr id="285" name="Google Shape;285;p29"/>
          <p:cNvSpPr txBox="1"/>
          <p:nvPr/>
        </p:nvSpPr>
        <p:spPr>
          <a:xfrm>
            <a:off x="6591300" y="3214687"/>
            <a:ext cx="48958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php -S localhost:8000 -t public</a:t>
            </a:r>
            <a:endParaRPr/>
          </a:p>
        </p:txBody>
      </p:sp>
      <p:sp>
        <p:nvSpPr>
          <p:cNvPr id="286" name="Google Shape;286;p29"/>
          <p:cNvSpPr txBox="1"/>
          <p:nvPr/>
        </p:nvSpPr>
        <p:spPr>
          <a:xfrm>
            <a:off x="6400800" y="3748087"/>
            <a:ext cx="57912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-S localhost:8000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— Адрес и порт запуска веб-сервера.</a:t>
            </a:r>
            <a:endParaRPr/>
          </a:p>
        </p:txBody>
      </p:sp>
      <p:sp>
        <p:nvSpPr>
          <p:cNvPr id="287" name="Google Shape;287;p29"/>
          <p:cNvSpPr txBox="1"/>
          <p:nvPr/>
        </p:nvSpPr>
        <p:spPr>
          <a:xfrm>
            <a:off x="6400800" y="4052887"/>
            <a:ext cx="52768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-t public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— Корневая директория (Document Root), откуда сервер раздает файлы.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0"/>
          <p:cNvSpPr/>
          <p:nvPr/>
        </p:nvSpPr>
        <p:spPr>
          <a:xfrm>
            <a:off x="609600" y="3176587"/>
            <a:ext cx="5372100" cy="1104900"/>
          </a:xfrm>
          <a:prstGeom prst="roundRect">
            <a:avLst>
              <a:gd fmla="val 10344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30"/>
          <p:cNvSpPr/>
          <p:nvPr/>
        </p:nvSpPr>
        <p:spPr>
          <a:xfrm>
            <a:off x="6210300" y="3267075"/>
            <a:ext cx="5372100" cy="923925"/>
          </a:xfrm>
          <a:prstGeom prst="roundRect">
            <a:avLst>
              <a:gd fmla="val 12371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30"/>
          <p:cNvSpPr txBox="1"/>
          <p:nvPr/>
        </p:nvSpPr>
        <p:spPr>
          <a:xfrm>
            <a:off x="609600" y="457200"/>
            <a:ext cx="115824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Устранение частых ошибок CLI</a:t>
            </a:r>
            <a:endParaRPr/>
          </a:p>
        </p:txBody>
      </p:sp>
      <p:sp>
        <p:nvSpPr>
          <p:cNvPr id="295" name="Google Shape;295;p30"/>
          <p:cNvSpPr txBox="1"/>
          <p:nvPr/>
        </p:nvSpPr>
        <p:spPr>
          <a:xfrm>
            <a:off x="838200" y="3405187"/>
            <a:ext cx="6450806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11D48"/>
                </a:solidFill>
                <a:latin typeface="Inter"/>
                <a:ea typeface="Inter"/>
                <a:cs typeface="Inter"/>
                <a:sym typeface="Inter"/>
              </a:rPr>
              <a:t>Directory public does not exist</a:t>
            </a:r>
            <a:endParaRPr/>
          </a:p>
        </p:txBody>
      </p:sp>
      <p:sp>
        <p:nvSpPr>
          <p:cNvPr id="296" name="Google Shape;296;p30"/>
          <p:cNvSpPr txBox="1"/>
          <p:nvPr/>
        </p:nvSpPr>
        <p:spPr>
          <a:xfrm>
            <a:off x="838200" y="3681412"/>
            <a:ext cx="501015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Папка public еще не создана в корне проекта. Создайте папку вручную перед запуском сервера.</a:t>
            </a:r>
            <a:endParaRPr/>
          </a:p>
        </p:txBody>
      </p:sp>
      <p:sp>
        <p:nvSpPr>
          <p:cNvPr id="297" name="Google Shape;297;p30"/>
          <p:cNvSpPr txBox="1"/>
          <p:nvPr/>
        </p:nvSpPr>
        <p:spPr>
          <a:xfrm>
            <a:off x="6438900" y="3495675"/>
            <a:ext cx="57531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11D48"/>
                </a:solidFill>
                <a:latin typeface="Inter"/>
                <a:ea typeface="Inter"/>
                <a:cs typeface="Inter"/>
                <a:sym typeface="Inter"/>
              </a:rPr>
              <a:t>404 Not Found (resource /)</a:t>
            </a:r>
            <a:endParaRPr/>
          </a:p>
        </p:txBody>
      </p:sp>
      <p:sp>
        <p:nvSpPr>
          <p:cNvPr id="298" name="Google Shape;298;p30"/>
          <p:cNvSpPr txBox="1"/>
          <p:nvPr/>
        </p:nvSpPr>
        <p:spPr>
          <a:xfrm>
            <a:off x="6438900" y="3771900"/>
            <a:ext cx="57531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В папке public отсутствует точки входа index.php или index.html.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1"/>
          <p:cNvSpPr/>
          <p:nvPr/>
        </p:nvSpPr>
        <p:spPr>
          <a:xfrm>
            <a:off x="7434262" y="1238250"/>
            <a:ext cx="4181475" cy="4981575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04" name="Google Shape;304;p31"/>
          <p:cNvGraphicFramePr/>
          <p:nvPr/>
        </p:nvGraphicFramePr>
        <p:xfrm>
          <a:off x="7434262" y="1238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{2F78026A-63E6-4E45-A466-9EC9D7815DC6}</a:tableStyleId>
              </a:tblPr>
              <a:tblGrid>
                <a:gridCol w="1152525"/>
                <a:gridCol w="1885950"/>
                <a:gridCol w="1143000"/>
              </a:tblGrid>
              <a:tr h="996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Параметр php.ini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Рекомендуемое значение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Описание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996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Включает/выключает возможность загрузки файлов HTTP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96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10M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Максимальный размер одного файла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96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12M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Максимальный размер всех данных POST (должен быть &gt; upload_max_filesize)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96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128M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Лимит оперативной памяти на один скрипт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05" name="Google Shape;305;p31"/>
          <p:cNvSpPr txBox="1"/>
          <p:nvPr/>
        </p:nvSpPr>
        <p:spPr>
          <a:xfrm>
            <a:off x="609600" y="457200"/>
            <a:ext cx="115824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Настройка php.ini для файлов</a:t>
            </a:r>
            <a:endParaRPr/>
          </a:p>
        </p:txBody>
      </p:sp>
      <p:sp>
        <p:nvSpPr>
          <p:cNvPr id="306" name="Google Shape;306;p31"/>
          <p:cNvSpPr txBox="1"/>
          <p:nvPr/>
        </p:nvSpPr>
        <p:spPr>
          <a:xfrm>
            <a:off x="766762" y="3629025"/>
            <a:ext cx="12382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file_uploads</a:t>
            </a:r>
            <a:endParaRPr/>
          </a:p>
        </p:txBody>
      </p:sp>
      <p:sp>
        <p:nvSpPr>
          <p:cNvPr id="307" name="Google Shape;307;p31"/>
          <p:cNvSpPr txBox="1"/>
          <p:nvPr/>
        </p:nvSpPr>
        <p:spPr>
          <a:xfrm>
            <a:off x="2290762" y="3629025"/>
            <a:ext cx="19050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upload_max_filesize</a:t>
            </a:r>
            <a:endParaRPr/>
          </a:p>
        </p:txBody>
      </p:sp>
      <p:sp>
        <p:nvSpPr>
          <p:cNvPr id="308" name="Google Shape;308;p31"/>
          <p:cNvSpPr txBox="1"/>
          <p:nvPr/>
        </p:nvSpPr>
        <p:spPr>
          <a:xfrm>
            <a:off x="4481512" y="3629025"/>
            <a:ext cx="13335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post_max_size</a:t>
            </a:r>
            <a:endParaRPr/>
          </a:p>
        </p:txBody>
      </p:sp>
      <p:sp>
        <p:nvSpPr>
          <p:cNvPr id="309" name="Google Shape;309;p31"/>
          <p:cNvSpPr txBox="1"/>
          <p:nvPr/>
        </p:nvSpPr>
        <p:spPr>
          <a:xfrm>
            <a:off x="6100762" y="3629025"/>
            <a:ext cx="12382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memory_limit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2"/>
          <p:cNvSpPr/>
          <p:nvPr/>
        </p:nvSpPr>
        <p:spPr>
          <a:xfrm>
            <a:off x="1333500" y="2757487"/>
            <a:ext cx="3022550" cy="1457325"/>
          </a:xfrm>
          <a:prstGeom prst="roundRect">
            <a:avLst>
              <a:gd fmla="val 7843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32"/>
          <p:cNvSpPr/>
          <p:nvPr/>
        </p:nvSpPr>
        <p:spPr>
          <a:xfrm>
            <a:off x="4584650" y="2757487"/>
            <a:ext cx="3022550" cy="1457325"/>
          </a:xfrm>
          <a:prstGeom prst="roundRect">
            <a:avLst>
              <a:gd fmla="val 7843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32"/>
          <p:cNvSpPr/>
          <p:nvPr/>
        </p:nvSpPr>
        <p:spPr>
          <a:xfrm>
            <a:off x="7835800" y="2757487"/>
            <a:ext cx="3022550" cy="1457325"/>
          </a:xfrm>
          <a:prstGeom prst="roundRect">
            <a:avLst>
              <a:gd fmla="val 7843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32"/>
          <p:cNvSpPr txBox="1"/>
          <p:nvPr/>
        </p:nvSpPr>
        <p:spPr>
          <a:xfrm>
            <a:off x="3295650" y="2062162"/>
            <a:ext cx="560070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Итоги и Best Practices</a:t>
            </a:r>
            <a:endParaRPr/>
          </a:p>
        </p:txBody>
      </p:sp>
      <p:sp>
        <p:nvSpPr>
          <p:cNvPr id="318" name="Google Shape;318;p32"/>
          <p:cNvSpPr txBox="1"/>
          <p:nvPr/>
        </p:nvSpPr>
        <p:spPr>
          <a:xfrm>
            <a:off x="4470796" y="4519612"/>
            <a:ext cx="3250406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Спасибо за внимание!</a:t>
            </a:r>
            <a:endParaRPr/>
          </a:p>
        </p:txBody>
      </p:sp>
      <p:sp>
        <p:nvSpPr>
          <p:cNvPr id="319" name="Google Shape;319;p32"/>
          <p:cNvSpPr txBox="1"/>
          <p:nvPr/>
        </p:nvSpPr>
        <p:spPr>
          <a:xfrm>
            <a:off x="1562100" y="2986087"/>
            <a:ext cx="3367022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Безопасность</a:t>
            </a:r>
            <a:endParaRPr/>
          </a:p>
        </p:txBody>
      </p:sp>
      <p:sp>
        <p:nvSpPr>
          <p:cNvPr id="320" name="Google Shape;320;p32"/>
          <p:cNvSpPr txBox="1"/>
          <p:nvPr/>
        </p:nvSpPr>
        <p:spPr>
          <a:xfrm>
            <a:off x="1562100" y="3262312"/>
            <a:ext cx="26606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Не верьте клиентским данным ($_FILES['type'] и name). Всегда проверяйте finfo и переименовывайте файлы.</a:t>
            </a:r>
            <a:endParaRPr/>
          </a:p>
        </p:txBody>
      </p:sp>
      <p:sp>
        <p:nvSpPr>
          <p:cNvPr id="321" name="Google Shape;321;p32"/>
          <p:cNvSpPr txBox="1"/>
          <p:nvPr/>
        </p:nvSpPr>
        <p:spPr>
          <a:xfrm>
            <a:off x="4813250" y="2986087"/>
            <a:ext cx="3367022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Стандарты JSON</a:t>
            </a:r>
            <a:endParaRPr/>
          </a:p>
        </p:txBody>
      </p:sp>
      <p:sp>
        <p:nvSpPr>
          <p:cNvPr id="322" name="Google Shape;322;p32"/>
          <p:cNvSpPr txBox="1"/>
          <p:nvPr/>
        </p:nvSpPr>
        <p:spPr>
          <a:xfrm>
            <a:off x="4813250" y="3262312"/>
            <a:ext cx="266060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Всегда устанавливайте Content-Type и проверяйте ошибки через json_last_error().</a:t>
            </a:r>
            <a:endParaRPr/>
          </a:p>
        </p:txBody>
      </p:sp>
      <p:sp>
        <p:nvSpPr>
          <p:cNvPr id="323" name="Google Shape;323;p32"/>
          <p:cNvSpPr txBox="1"/>
          <p:nvPr/>
        </p:nvSpPr>
        <p:spPr>
          <a:xfrm>
            <a:off x="8064400" y="2986087"/>
            <a:ext cx="3367022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59E0B"/>
                </a:solidFill>
                <a:latin typeface="Inter"/>
                <a:ea typeface="Inter"/>
                <a:cs typeface="Inter"/>
                <a:sym typeface="Inter"/>
              </a:rPr>
              <a:t>Разработка</a:t>
            </a:r>
            <a:endParaRPr/>
          </a:p>
        </p:txBody>
      </p:sp>
      <p:sp>
        <p:nvSpPr>
          <p:cNvPr id="324" name="Google Shape;324;p32"/>
          <p:cNvSpPr txBox="1"/>
          <p:nvPr/>
        </p:nvSpPr>
        <p:spPr>
          <a:xfrm>
            <a:off x="8064400" y="3262312"/>
            <a:ext cx="266060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Используйте встроенный CLI сервер для быстрого локального тестирования.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3"/>
          <p:cNvSpPr/>
          <p:nvPr/>
        </p:nvSpPr>
        <p:spPr>
          <a:xfrm>
            <a:off x="571500" y="847725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33"/>
          <p:cNvSpPr/>
          <p:nvPr/>
        </p:nvSpPr>
        <p:spPr>
          <a:xfrm>
            <a:off x="571500" y="1619250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33"/>
          <p:cNvSpPr/>
          <p:nvPr/>
        </p:nvSpPr>
        <p:spPr>
          <a:xfrm>
            <a:off x="571500" y="2390775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33"/>
          <p:cNvSpPr/>
          <p:nvPr/>
        </p:nvSpPr>
        <p:spPr>
          <a:xfrm>
            <a:off x="571500" y="16097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33"/>
          <p:cNvSpPr/>
          <p:nvPr/>
        </p:nvSpPr>
        <p:spPr>
          <a:xfrm>
            <a:off x="571500" y="16097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33"/>
          <p:cNvSpPr/>
          <p:nvPr/>
        </p:nvSpPr>
        <p:spPr>
          <a:xfrm>
            <a:off x="571500" y="23812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33"/>
          <p:cNvSpPr/>
          <p:nvPr/>
        </p:nvSpPr>
        <p:spPr>
          <a:xfrm>
            <a:off x="571500" y="23812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33"/>
          <p:cNvSpPr/>
          <p:nvPr/>
        </p:nvSpPr>
        <p:spPr>
          <a:xfrm>
            <a:off x="571500" y="31527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33"/>
          <p:cNvSpPr/>
          <p:nvPr/>
        </p:nvSpPr>
        <p:spPr>
          <a:xfrm>
            <a:off x="571500" y="31527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38" name="Google Shape;338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990600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9" name="Google Shape;339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762125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0" name="Google Shape;340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533650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1" name="Google Shape;341;p3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30517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33"/>
          <p:cNvSpPr txBox="1"/>
          <p:nvPr/>
        </p:nvSpPr>
        <p:spPr>
          <a:xfrm>
            <a:off x="571500" y="571500"/>
            <a:ext cx="2175271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Image Sources</a:t>
            </a:r>
            <a:endParaRPr/>
          </a:p>
        </p:txBody>
      </p:sp>
      <p:sp>
        <p:nvSpPr>
          <p:cNvPr id="343" name="Google Shape;343;p33"/>
          <p:cNvSpPr txBox="1"/>
          <p:nvPr/>
        </p:nvSpPr>
        <p:spPr>
          <a:xfrm>
            <a:off x="1666875" y="1033462"/>
            <a:ext cx="2226468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https://i.sstatic.net/SvDuJ.png</a:t>
            </a:r>
            <a:endParaRPr/>
          </a:p>
        </p:txBody>
      </p:sp>
      <p:sp>
        <p:nvSpPr>
          <p:cNvPr id="344" name="Google Shape;344;p33"/>
          <p:cNvSpPr txBox="1"/>
          <p:nvPr/>
        </p:nvSpPr>
        <p:spPr>
          <a:xfrm>
            <a:off x="1666875" y="1233487"/>
            <a:ext cx="2464593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Source: stackoverflow.com</a:t>
            </a:r>
            <a:endParaRPr/>
          </a:p>
        </p:txBody>
      </p:sp>
      <p:sp>
        <p:nvSpPr>
          <p:cNvPr id="345" name="Google Shape;345;p33"/>
          <p:cNvSpPr txBox="1"/>
          <p:nvPr/>
        </p:nvSpPr>
        <p:spPr>
          <a:xfrm>
            <a:off x="1666875" y="1804987"/>
            <a:ext cx="8489156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https://d2908q01vomqb2.cloudfront.net/22d200f8670dbdb3e253a90eee5098477c95c23d/2023/11/22/img2-8.png</a:t>
            </a:r>
            <a:endParaRPr/>
          </a:p>
        </p:txBody>
      </p:sp>
      <p:sp>
        <p:nvSpPr>
          <p:cNvPr id="346" name="Google Shape;346;p33"/>
          <p:cNvSpPr txBox="1"/>
          <p:nvPr/>
        </p:nvSpPr>
        <p:spPr>
          <a:xfrm>
            <a:off x="1666875" y="2005012"/>
            <a:ext cx="23336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Source: aws.amazon.com</a:t>
            </a:r>
            <a:endParaRPr/>
          </a:p>
        </p:txBody>
      </p:sp>
      <p:sp>
        <p:nvSpPr>
          <p:cNvPr id="347" name="Google Shape;347;p33"/>
          <p:cNvSpPr txBox="1"/>
          <p:nvPr/>
        </p:nvSpPr>
        <p:spPr>
          <a:xfrm>
            <a:off x="1666875" y="2576512"/>
            <a:ext cx="6727031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https://phppot.com/wp-content/uploads/2015/10/restful-web-services-api-architecture.jpg</a:t>
            </a:r>
            <a:endParaRPr/>
          </a:p>
        </p:txBody>
      </p:sp>
      <p:sp>
        <p:nvSpPr>
          <p:cNvPr id="348" name="Google Shape;348;p33"/>
          <p:cNvSpPr txBox="1"/>
          <p:nvPr/>
        </p:nvSpPr>
        <p:spPr>
          <a:xfrm>
            <a:off x="1666875" y="2776537"/>
            <a:ext cx="1845468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Source: phppot.com</a:t>
            </a:r>
            <a:endParaRPr/>
          </a:p>
        </p:txBody>
      </p:sp>
      <p:sp>
        <p:nvSpPr>
          <p:cNvPr id="349" name="Google Shape;349;p33"/>
          <p:cNvSpPr txBox="1"/>
          <p:nvPr/>
        </p:nvSpPr>
        <p:spPr>
          <a:xfrm>
            <a:off x="1666875" y="3348037"/>
            <a:ext cx="6988968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https://invozone-backend.s3.amazonaws.com/develop_php_web_application_5f2d0fd17f.webp</a:t>
            </a:r>
            <a:endParaRPr/>
          </a:p>
        </p:txBody>
      </p:sp>
      <p:sp>
        <p:nvSpPr>
          <p:cNvPr id="350" name="Google Shape;350;p33"/>
          <p:cNvSpPr txBox="1"/>
          <p:nvPr/>
        </p:nvSpPr>
        <p:spPr>
          <a:xfrm>
            <a:off x="1666875" y="3548062"/>
            <a:ext cx="2024062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Source: invozone.com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